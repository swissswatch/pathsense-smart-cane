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10287000" cx="18288000"/>
  <p:notesSz cx="6858000" cy="9144000"/>
  <p:embeddedFontLst>
    <p:embeddedFont>
      <p:font typeface="Geo"/>
      <p:regular r:id="rId16"/>
      <p:italic r:id="rId17"/>
    </p:embeddedFont>
    <p:embeddedFont>
      <p:font typeface="Helvetica Neue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HelveticaNeue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HelveticaNeue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Geo-italic.fntdata"/><Relationship Id="rId16" Type="http://schemas.openxmlformats.org/officeDocument/2006/relationships/font" Target="fonts/Geo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HelveticaNeue-bold.fntdata"/><Relationship Id="rId6" Type="http://schemas.openxmlformats.org/officeDocument/2006/relationships/slide" Target="slides/slide1.xml"/><Relationship Id="rId18" Type="http://schemas.openxmlformats.org/officeDocument/2006/relationships/font" Target="fonts/HelveticaNeue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6.png"/><Relationship Id="rId6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0" y="-12700"/>
            <a:ext cx="16374523" cy="10299700"/>
          </a:xfrm>
          <a:custGeom>
            <a:rect b="b" l="l" r="r" t="t"/>
            <a:pathLst>
              <a:path extrusionOk="0" h="885799" w="1408249">
                <a:moveTo>
                  <a:pt x="0" y="0"/>
                </a:moveTo>
                <a:lnTo>
                  <a:pt x="1408249" y="0"/>
                </a:lnTo>
                <a:lnTo>
                  <a:pt x="1408249" y="885799"/>
                </a:lnTo>
                <a:lnTo>
                  <a:pt x="0" y="885799"/>
                </a:lnTo>
                <a:close/>
              </a:path>
            </a:pathLst>
          </a:custGeom>
          <a:solidFill>
            <a:srgbClr val="88AADC"/>
          </a:solidFill>
          <a:ln>
            <a:noFill/>
          </a:ln>
        </p:spPr>
      </p:sp>
      <p:sp>
        <p:nvSpPr>
          <p:cNvPr id="85" name="Google Shape;85;p13"/>
          <p:cNvSpPr txBox="1"/>
          <p:nvPr/>
        </p:nvSpPr>
        <p:spPr>
          <a:xfrm>
            <a:off x="666750" y="8392160"/>
            <a:ext cx="6886575" cy="122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800" u="none" cap="none" strike="noStrike">
                <a:solidFill>
                  <a:srgbClr val="204A8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Team of 4 from Amal Jyothi College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666750" y="685053"/>
            <a:ext cx="12836400" cy="69267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5000" u="none" cap="none" strike="noStrike">
                <a:solidFill>
                  <a:srgbClr val="4A679D"/>
                </a:solidFill>
                <a:latin typeface="Georgia"/>
                <a:ea typeface="Georgia"/>
                <a:cs typeface="Georgia"/>
                <a:sym typeface="Georgia"/>
              </a:rPr>
              <a:t>PathSense: Smart Cane Navigation</a:t>
            </a:r>
            <a:endParaRPr sz="150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</a:t>
            </a:r>
            <a:endParaRPr/>
          </a:p>
        </p:txBody>
      </p:sp>
      <p:pic>
        <p:nvPicPr>
          <p:cNvPr id="88" name="Google Shape;88;p13" title="imag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3123366">
            <a:off x="9183576" y="7544100"/>
            <a:ext cx="2712575" cy="2072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 txBox="1"/>
          <p:nvPr/>
        </p:nvSpPr>
        <p:spPr>
          <a:xfrm>
            <a:off x="17259300" y="9220200"/>
            <a:ext cx="1524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204A8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/>
          </a:p>
        </p:txBody>
      </p:sp>
      <p:grpSp>
        <p:nvGrpSpPr>
          <p:cNvPr id="94" name="Google Shape;94;p14"/>
          <p:cNvGrpSpPr/>
          <p:nvPr/>
        </p:nvGrpSpPr>
        <p:grpSpPr>
          <a:xfrm>
            <a:off x="666750" y="522089"/>
            <a:ext cx="16954500" cy="9098165"/>
            <a:chOff x="0" y="-38100"/>
            <a:chExt cx="4465383" cy="2396224"/>
          </a:xfrm>
        </p:grpSpPr>
        <p:sp>
          <p:nvSpPr>
            <p:cNvPr id="95" name="Google Shape;95;p14"/>
            <p:cNvSpPr/>
            <p:nvPr/>
          </p:nvSpPr>
          <p:spPr>
            <a:xfrm>
              <a:off x="0" y="0"/>
              <a:ext cx="4465383" cy="2358124"/>
            </a:xfrm>
            <a:custGeom>
              <a:rect b="b" l="l" r="r" t="t"/>
              <a:pathLst>
                <a:path extrusionOk="0"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A3C5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14"/>
            <p:cNvSpPr txBox="1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7" name="Google Shape;97;p14"/>
          <p:cNvGrpSpPr/>
          <p:nvPr/>
        </p:nvGrpSpPr>
        <p:grpSpPr>
          <a:xfrm>
            <a:off x="1800225" y="1497801"/>
            <a:ext cx="12944475" cy="5883900"/>
            <a:chOff x="0" y="-85732"/>
            <a:chExt cx="17259300" cy="7845200"/>
          </a:xfrm>
        </p:grpSpPr>
        <p:sp>
          <p:nvSpPr>
            <p:cNvPr id="98" name="Google Shape;98;p14"/>
            <p:cNvSpPr txBox="1"/>
            <p:nvPr/>
          </p:nvSpPr>
          <p:spPr>
            <a:xfrm>
              <a:off x="0" y="-85732"/>
              <a:ext cx="17259300" cy="344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7300" u="none" cap="none" strike="noStrike">
                  <a:solidFill>
                    <a:srgbClr val="4A679D"/>
                  </a:solidFill>
                  <a:latin typeface="Georgia"/>
                  <a:ea typeface="Georgia"/>
                  <a:cs typeface="Georgia"/>
                  <a:sym typeface="Georgia"/>
                </a:rPr>
                <a:t>Limitations of Traditional Canes</a:t>
              </a:r>
              <a:endParaRPr sz="700"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99" name="Google Shape;99;p14"/>
            <p:cNvSpPr txBox="1"/>
            <p:nvPr/>
          </p:nvSpPr>
          <p:spPr>
            <a:xfrm>
              <a:off x="0" y="3618779"/>
              <a:ext cx="17259300" cy="57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799" u="none" cap="none" strike="noStrike">
                  <a:solidFill>
                    <a:srgbClr val="4A679D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Key Challenges for Visually Impaired Users</a:t>
              </a:r>
              <a:endParaRPr/>
            </a:p>
          </p:txBody>
        </p:sp>
        <p:sp>
          <p:nvSpPr>
            <p:cNvPr id="100" name="Google Shape;100;p14"/>
            <p:cNvSpPr txBox="1"/>
            <p:nvPr/>
          </p:nvSpPr>
          <p:spPr>
            <a:xfrm>
              <a:off x="0" y="4451968"/>
              <a:ext cx="13512000" cy="330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099" u="none" cap="none" strike="noStrike">
                  <a:solidFill>
                    <a:srgbClr val="204A87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Traditional white canes primarily detect ground-level obstacles, </a:t>
              </a:r>
              <a:r>
                <a:rPr b="1" i="0" lang="en-US" sz="3099" u="none" cap="none" strike="noStrike">
                  <a:solidFill>
                    <a:srgbClr val="204A87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missing</a:t>
              </a:r>
              <a:r>
                <a:rPr b="0" i="0" lang="en-US" sz="3099" u="none" cap="none" strike="noStrike">
                  <a:solidFill>
                    <a:srgbClr val="204A87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hazards at chest and head height while lacking depth awareness for potholes and curbs, limiting user safety during navigation.</a:t>
              </a:r>
              <a:endParaRPr/>
            </a:p>
          </p:txBody>
        </p:sp>
      </p:grpSp>
      <p:sp>
        <p:nvSpPr>
          <p:cNvPr id="101" name="Google Shape;101;p14"/>
          <p:cNvSpPr/>
          <p:nvPr/>
        </p:nvSpPr>
        <p:spPr>
          <a:xfrm rot="-3117037">
            <a:off x="16099474" y="7952721"/>
            <a:ext cx="2112604" cy="1859092"/>
          </a:xfrm>
          <a:custGeom>
            <a:rect b="b" l="l" r="r" t="t"/>
            <a:pathLst>
              <a:path extrusionOk="0"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</p:sp>
      <p:pic>
        <p:nvPicPr>
          <p:cNvPr id="102" name="Google Shape;10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080884" y="2579473"/>
            <a:ext cx="3378352" cy="60548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5"/>
          <p:cNvSpPr txBox="1"/>
          <p:nvPr/>
        </p:nvSpPr>
        <p:spPr>
          <a:xfrm>
            <a:off x="17259300" y="9220200"/>
            <a:ext cx="1524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204A8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endParaRPr/>
          </a:p>
        </p:txBody>
      </p:sp>
      <p:grpSp>
        <p:nvGrpSpPr>
          <p:cNvPr id="108" name="Google Shape;108;p15"/>
          <p:cNvGrpSpPr/>
          <p:nvPr/>
        </p:nvGrpSpPr>
        <p:grpSpPr>
          <a:xfrm>
            <a:off x="666750" y="522089"/>
            <a:ext cx="16954500" cy="9098165"/>
            <a:chOff x="0" y="-38100"/>
            <a:chExt cx="4465383" cy="2396224"/>
          </a:xfrm>
        </p:grpSpPr>
        <p:sp>
          <p:nvSpPr>
            <p:cNvPr id="109" name="Google Shape;109;p15"/>
            <p:cNvSpPr/>
            <p:nvPr/>
          </p:nvSpPr>
          <p:spPr>
            <a:xfrm>
              <a:off x="0" y="0"/>
              <a:ext cx="4465383" cy="2358124"/>
            </a:xfrm>
            <a:custGeom>
              <a:rect b="b" l="l" r="r" t="t"/>
              <a:pathLst>
                <a:path extrusionOk="0"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A3C5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5"/>
            <p:cNvSpPr txBox="1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1" name="Google Shape;111;p15"/>
          <p:cNvGrpSpPr/>
          <p:nvPr/>
        </p:nvGrpSpPr>
        <p:grpSpPr>
          <a:xfrm>
            <a:off x="1800225" y="1497806"/>
            <a:ext cx="12944475" cy="4695620"/>
            <a:chOff x="0" y="-85725"/>
            <a:chExt cx="17259300" cy="6260827"/>
          </a:xfrm>
        </p:grpSpPr>
        <p:sp>
          <p:nvSpPr>
            <p:cNvPr id="112" name="Google Shape;112;p15"/>
            <p:cNvSpPr txBox="1"/>
            <p:nvPr/>
          </p:nvSpPr>
          <p:spPr>
            <a:xfrm>
              <a:off x="0" y="-85725"/>
              <a:ext cx="17259300" cy="164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8000" u="none" cap="none" strike="noStrike">
                  <a:solidFill>
                    <a:srgbClr val="4A679D"/>
                  </a:solidFill>
                  <a:latin typeface="Georgia"/>
                  <a:ea typeface="Georgia"/>
                  <a:cs typeface="Georgia"/>
                  <a:sym typeface="Georgia"/>
                </a:rPr>
                <a:t>Why It Matters</a:t>
              </a:r>
              <a:endParaRPr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113" name="Google Shape;113;p15"/>
            <p:cNvSpPr txBox="1"/>
            <p:nvPr/>
          </p:nvSpPr>
          <p:spPr>
            <a:xfrm>
              <a:off x="0" y="2197212"/>
              <a:ext cx="17259300" cy="61201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799" u="none" cap="none" strike="noStrike">
                  <a:solidFill>
                    <a:srgbClr val="4A679D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Importance of Addressing Navigation Challenges</a:t>
              </a:r>
              <a:endParaRPr/>
            </a:p>
          </p:txBody>
        </p:sp>
        <p:sp>
          <p:nvSpPr>
            <p:cNvPr id="114" name="Google Shape;114;p15"/>
            <p:cNvSpPr txBox="1"/>
            <p:nvPr/>
          </p:nvSpPr>
          <p:spPr>
            <a:xfrm>
              <a:off x="0" y="3103335"/>
              <a:ext cx="13512134" cy="30717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200" u="none" cap="none" strike="noStrike">
                  <a:solidFill>
                    <a:srgbClr val="204A87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India has one of the </a:t>
              </a:r>
              <a:r>
                <a:rPr b="1" i="0" lang="en-US" sz="3200" u="none" cap="none" strike="noStrike">
                  <a:solidFill>
                    <a:srgbClr val="204A87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largest visually impaired populations</a:t>
              </a:r>
              <a:r>
                <a:rPr b="0" i="0" lang="en-US" sz="3200" u="none" cap="none" strike="noStrike">
                  <a:solidFill>
                    <a:srgbClr val="204A87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, especially in Kerala, where uneven roads pose significant risks. Our device addresses critical gaps in obstacle detection and emergency response.</a:t>
              </a:r>
              <a:endParaRPr/>
            </a:p>
          </p:txBody>
        </p:sp>
      </p:grpSp>
      <p:sp>
        <p:nvSpPr>
          <p:cNvPr id="115" name="Google Shape;115;p15"/>
          <p:cNvSpPr/>
          <p:nvPr/>
        </p:nvSpPr>
        <p:spPr>
          <a:xfrm rot="-3117037">
            <a:off x="16099474" y="7952721"/>
            <a:ext cx="2112604" cy="1859092"/>
          </a:xfrm>
          <a:custGeom>
            <a:rect b="b" l="l" r="r" t="t"/>
            <a:pathLst>
              <a:path extrusionOk="0"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0" name="Google Shape;120;p16"/>
          <p:cNvGrpSpPr/>
          <p:nvPr/>
        </p:nvGrpSpPr>
        <p:grpSpPr>
          <a:xfrm>
            <a:off x="0" y="-144661"/>
            <a:ext cx="7858125" cy="10431661"/>
            <a:chOff x="0" y="-38100"/>
            <a:chExt cx="2069630" cy="2747433"/>
          </a:xfrm>
        </p:grpSpPr>
        <p:sp>
          <p:nvSpPr>
            <p:cNvPr id="121" name="Google Shape;121;p16"/>
            <p:cNvSpPr/>
            <p:nvPr/>
          </p:nvSpPr>
          <p:spPr>
            <a:xfrm>
              <a:off x="0" y="0"/>
              <a:ext cx="2069630" cy="2709333"/>
            </a:xfrm>
            <a:custGeom>
              <a:rect b="b" l="l" r="r" t="t"/>
              <a:pathLst>
                <a:path extrusionOk="0" h="2709333" w="2069630">
                  <a:moveTo>
                    <a:pt x="0" y="0"/>
                  </a:moveTo>
                  <a:lnTo>
                    <a:pt x="2069630" y="0"/>
                  </a:lnTo>
                  <a:lnTo>
                    <a:pt x="206963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88AADC"/>
            </a:solidFill>
            <a:ln>
              <a:noFill/>
            </a:ln>
          </p:spPr>
        </p:sp>
        <p:sp>
          <p:nvSpPr>
            <p:cNvPr id="122" name="Google Shape;122;p16"/>
            <p:cNvSpPr txBox="1"/>
            <p:nvPr/>
          </p:nvSpPr>
          <p:spPr>
            <a:xfrm>
              <a:off x="0" y="-38100"/>
              <a:ext cx="2069630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3" name="Google Shape;123;p16"/>
          <p:cNvSpPr txBox="1"/>
          <p:nvPr/>
        </p:nvSpPr>
        <p:spPr>
          <a:xfrm>
            <a:off x="666750" y="809625"/>
            <a:ext cx="5448300" cy="61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8000" u="none" cap="none" strike="noStrike">
                <a:solidFill>
                  <a:srgbClr val="4A679D"/>
                </a:solidFill>
                <a:latin typeface="Georgia"/>
                <a:ea typeface="Georgia"/>
                <a:cs typeface="Georgia"/>
                <a:sym typeface="Georgia"/>
              </a:rPr>
              <a:t>Our Solution: Enhanced Navigation Safety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grpSp>
        <p:nvGrpSpPr>
          <p:cNvPr id="124" name="Google Shape;124;p16"/>
          <p:cNvGrpSpPr/>
          <p:nvPr/>
        </p:nvGrpSpPr>
        <p:grpSpPr>
          <a:xfrm>
            <a:off x="10734675" y="6944836"/>
            <a:ext cx="6886575" cy="1378178"/>
            <a:chOff x="0" y="0"/>
            <a:chExt cx="9182100" cy="1837570"/>
          </a:xfrm>
        </p:grpSpPr>
        <p:sp>
          <p:nvSpPr>
            <p:cNvPr id="125" name="Google Shape;125;p16"/>
            <p:cNvSpPr txBox="1"/>
            <p:nvPr/>
          </p:nvSpPr>
          <p:spPr>
            <a:xfrm>
              <a:off x="0" y="0"/>
              <a:ext cx="9182100" cy="61201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799" u="none" cap="none" strike="noStrike">
                  <a:solidFill>
                    <a:srgbClr val="4A679D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Emergency Alert</a:t>
              </a:r>
              <a:endParaRPr/>
            </a:p>
          </p:txBody>
        </p:sp>
        <p:sp>
          <p:nvSpPr>
            <p:cNvPr id="126" name="Google Shape;126;p16"/>
            <p:cNvSpPr txBox="1"/>
            <p:nvPr/>
          </p:nvSpPr>
          <p:spPr>
            <a:xfrm>
              <a:off x="0" y="1246808"/>
              <a:ext cx="9182100" cy="5907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99" u="none" cap="none" strike="noStrike">
                  <a:solidFill>
                    <a:srgbClr val="204A87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SOS button sends alerts during emergencies.</a:t>
              </a:r>
              <a:endParaRPr/>
            </a:p>
          </p:txBody>
        </p:sp>
      </p:grpSp>
      <p:sp>
        <p:nvSpPr>
          <p:cNvPr id="127" name="Google Shape;127;p16"/>
          <p:cNvSpPr txBox="1"/>
          <p:nvPr/>
        </p:nvSpPr>
        <p:spPr>
          <a:xfrm>
            <a:off x="9296400" y="4250055"/>
            <a:ext cx="8649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799" u="none" cap="none" strike="noStrike">
                <a:solidFill>
                  <a:srgbClr val="4A679D"/>
                </a:solidFill>
                <a:latin typeface="Georgia"/>
                <a:ea typeface="Georgia"/>
                <a:cs typeface="Georgia"/>
                <a:sym typeface="Georgia"/>
              </a:rPr>
              <a:t>02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28" name="Google Shape;128;p16"/>
          <p:cNvSpPr txBox="1"/>
          <p:nvPr/>
        </p:nvSpPr>
        <p:spPr>
          <a:xfrm>
            <a:off x="9296400" y="1553369"/>
            <a:ext cx="8649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799" u="none" cap="none" strike="noStrike">
                <a:solidFill>
                  <a:srgbClr val="4A679D"/>
                </a:solidFill>
                <a:latin typeface="Georgia"/>
                <a:ea typeface="Georgia"/>
                <a:cs typeface="Georgia"/>
                <a:sym typeface="Georgia"/>
              </a:rPr>
              <a:t>01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29" name="Google Shape;129;p16"/>
          <p:cNvSpPr txBox="1"/>
          <p:nvPr/>
        </p:nvSpPr>
        <p:spPr>
          <a:xfrm>
            <a:off x="9167275" y="6850030"/>
            <a:ext cx="8649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799" u="none" cap="none" strike="noStrike">
                <a:solidFill>
                  <a:srgbClr val="4A679D"/>
                </a:solidFill>
                <a:latin typeface="Georgia"/>
                <a:ea typeface="Georgia"/>
                <a:cs typeface="Georgia"/>
                <a:sym typeface="Georgia"/>
              </a:rPr>
              <a:t>03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grpSp>
        <p:nvGrpSpPr>
          <p:cNvPr id="130" name="Google Shape;130;p16"/>
          <p:cNvGrpSpPr/>
          <p:nvPr/>
        </p:nvGrpSpPr>
        <p:grpSpPr>
          <a:xfrm>
            <a:off x="10734675" y="4248150"/>
            <a:ext cx="6886575" cy="1415007"/>
            <a:chOff x="0" y="0"/>
            <a:chExt cx="9182100" cy="1886676"/>
          </a:xfrm>
        </p:grpSpPr>
        <p:sp>
          <p:nvSpPr>
            <p:cNvPr id="131" name="Google Shape;131;p16"/>
            <p:cNvSpPr txBox="1"/>
            <p:nvPr/>
          </p:nvSpPr>
          <p:spPr>
            <a:xfrm>
              <a:off x="0" y="0"/>
              <a:ext cx="9182100" cy="63741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900" u="none" cap="none" strike="noStrike">
                  <a:solidFill>
                    <a:srgbClr val="4A679D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Depth Sensing</a:t>
              </a:r>
              <a:endParaRPr/>
            </a:p>
          </p:txBody>
        </p:sp>
        <p:sp>
          <p:nvSpPr>
            <p:cNvPr id="132" name="Google Shape;132;p16"/>
            <p:cNvSpPr txBox="1"/>
            <p:nvPr/>
          </p:nvSpPr>
          <p:spPr>
            <a:xfrm>
              <a:off x="0" y="1272208"/>
              <a:ext cx="9182100" cy="6144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900" u="none" cap="none" strike="noStrike">
                  <a:solidFill>
                    <a:srgbClr val="204A87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Sensor at the tip detects height changes.</a:t>
              </a:r>
              <a:endParaRPr/>
            </a:p>
          </p:txBody>
        </p:sp>
      </p:grpSp>
      <p:grpSp>
        <p:nvGrpSpPr>
          <p:cNvPr id="133" name="Google Shape;133;p16"/>
          <p:cNvGrpSpPr/>
          <p:nvPr/>
        </p:nvGrpSpPr>
        <p:grpSpPr>
          <a:xfrm>
            <a:off x="10734675" y="1562100"/>
            <a:ext cx="6886575" cy="1891257"/>
            <a:chOff x="0" y="0"/>
            <a:chExt cx="9182100" cy="2521676"/>
          </a:xfrm>
        </p:grpSpPr>
        <p:sp>
          <p:nvSpPr>
            <p:cNvPr id="134" name="Google Shape;134;p16"/>
            <p:cNvSpPr txBox="1"/>
            <p:nvPr/>
          </p:nvSpPr>
          <p:spPr>
            <a:xfrm>
              <a:off x="0" y="0"/>
              <a:ext cx="9182100" cy="63741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900" u="none" cap="none" strike="noStrike">
                  <a:solidFill>
                    <a:srgbClr val="4A679D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Side Detection</a:t>
              </a:r>
              <a:endParaRPr/>
            </a:p>
          </p:txBody>
        </p:sp>
        <p:sp>
          <p:nvSpPr>
            <p:cNvPr id="135" name="Google Shape;135;p16"/>
            <p:cNvSpPr txBox="1"/>
            <p:nvPr/>
          </p:nvSpPr>
          <p:spPr>
            <a:xfrm>
              <a:off x="0" y="1272208"/>
              <a:ext cx="9182100" cy="12494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900" u="none" cap="none" strike="noStrike">
                  <a:solidFill>
                    <a:srgbClr val="204A87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Dual sensors identify obstacles on both sides.</a:t>
              </a:r>
              <a:endParaRPr/>
            </a:p>
          </p:txBody>
        </p:sp>
      </p:grpSp>
      <p:pic>
        <p:nvPicPr>
          <p:cNvPr id="136" name="Google Shape;136;p16" title="imag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6758" y="7628182"/>
            <a:ext cx="2475539" cy="1891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7"/>
          <p:cNvSpPr txBox="1"/>
          <p:nvPr/>
        </p:nvSpPr>
        <p:spPr>
          <a:xfrm>
            <a:off x="664950" y="755425"/>
            <a:ext cx="169545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8000" u="none" cap="none" strike="noStrike">
                <a:solidFill>
                  <a:srgbClr val="4A679D"/>
                </a:solidFill>
                <a:latin typeface="Georgia"/>
                <a:ea typeface="Georgia"/>
                <a:cs typeface="Georgia"/>
                <a:sym typeface="Georgia"/>
              </a:rPr>
              <a:t>System Flow Overview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grpSp>
        <p:nvGrpSpPr>
          <p:cNvPr id="142" name="Google Shape;142;p17"/>
          <p:cNvGrpSpPr/>
          <p:nvPr/>
        </p:nvGrpSpPr>
        <p:grpSpPr>
          <a:xfrm>
            <a:off x="2105025" y="3336176"/>
            <a:ext cx="6886575" cy="1835378"/>
            <a:chOff x="0" y="0"/>
            <a:chExt cx="9182100" cy="2447170"/>
          </a:xfrm>
        </p:grpSpPr>
        <p:sp>
          <p:nvSpPr>
            <p:cNvPr id="143" name="Google Shape;143;p17"/>
            <p:cNvSpPr txBox="1"/>
            <p:nvPr/>
          </p:nvSpPr>
          <p:spPr>
            <a:xfrm>
              <a:off x="0" y="0"/>
              <a:ext cx="9182100" cy="61201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799" u="none" cap="none" strike="noStrike">
                  <a:solidFill>
                    <a:srgbClr val="4A679D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Sensing</a:t>
              </a:r>
              <a:endParaRPr/>
            </a:p>
          </p:txBody>
        </p:sp>
        <p:sp>
          <p:nvSpPr>
            <p:cNvPr id="144" name="Google Shape;144;p17"/>
            <p:cNvSpPr txBox="1"/>
            <p:nvPr/>
          </p:nvSpPr>
          <p:spPr>
            <a:xfrm>
              <a:off x="0" y="1246808"/>
              <a:ext cx="9182100" cy="12003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99" u="none" cap="none" strike="noStrike">
                  <a:solidFill>
                    <a:srgbClr val="204A87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Sensors continuously scan the path ahead and below.</a:t>
              </a:r>
              <a:endParaRPr/>
            </a:p>
          </p:txBody>
        </p:sp>
      </p:grpSp>
      <p:grpSp>
        <p:nvGrpSpPr>
          <p:cNvPr id="145" name="Google Shape;145;p17"/>
          <p:cNvGrpSpPr/>
          <p:nvPr/>
        </p:nvGrpSpPr>
        <p:grpSpPr>
          <a:xfrm>
            <a:off x="10734675" y="6214393"/>
            <a:ext cx="6886575" cy="1835378"/>
            <a:chOff x="0" y="0"/>
            <a:chExt cx="9182100" cy="2447170"/>
          </a:xfrm>
        </p:grpSpPr>
        <p:sp>
          <p:nvSpPr>
            <p:cNvPr id="146" name="Google Shape;146;p17"/>
            <p:cNvSpPr txBox="1"/>
            <p:nvPr/>
          </p:nvSpPr>
          <p:spPr>
            <a:xfrm>
              <a:off x="0" y="0"/>
              <a:ext cx="9182100" cy="61201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799" u="none" cap="none" strike="noStrike">
                  <a:solidFill>
                    <a:srgbClr val="4A679D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Integration</a:t>
              </a:r>
              <a:endParaRPr/>
            </a:p>
          </p:txBody>
        </p:sp>
        <p:sp>
          <p:nvSpPr>
            <p:cNvPr id="147" name="Google Shape;147;p17"/>
            <p:cNvSpPr txBox="1"/>
            <p:nvPr/>
          </p:nvSpPr>
          <p:spPr>
            <a:xfrm>
              <a:off x="0" y="1246808"/>
              <a:ext cx="9182100" cy="12003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99" u="none" cap="none" strike="noStrike">
                  <a:solidFill>
                    <a:srgbClr val="204A87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Ultrasonic and depth sensors work in harmony.</a:t>
              </a:r>
              <a:endParaRPr/>
            </a:p>
          </p:txBody>
        </p:sp>
      </p:grpSp>
      <p:grpSp>
        <p:nvGrpSpPr>
          <p:cNvPr id="148" name="Google Shape;148;p17"/>
          <p:cNvGrpSpPr/>
          <p:nvPr/>
        </p:nvGrpSpPr>
        <p:grpSpPr>
          <a:xfrm>
            <a:off x="2105025" y="6214393"/>
            <a:ext cx="6886575" cy="1881573"/>
            <a:chOff x="0" y="0"/>
            <a:chExt cx="9182100" cy="2508764"/>
          </a:xfrm>
        </p:grpSpPr>
        <p:sp>
          <p:nvSpPr>
            <p:cNvPr id="149" name="Google Shape;149;p17"/>
            <p:cNvSpPr txBox="1"/>
            <p:nvPr/>
          </p:nvSpPr>
          <p:spPr>
            <a:xfrm>
              <a:off x="0" y="0"/>
              <a:ext cx="9182100" cy="61201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799" u="none" cap="none" strike="noStrike">
                  <a:solidFill>
                    <a:srgbClr val="4A679D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Alerting</a:t>
              </a:r>
              <a:endParaRPr/>
            </a:p>
          </p:txBody>
        </p:sp>
        <p:sp>
          <p:nvSpPr>
            <p:cNvPr id="150" name="Google Shape;150;p17"/>
            <p:cNvSpPr txBox="1"/>
            <p:nvPr/>
          </p:nvSpPr>
          <p:spPr>
            <a:xfrm>
              <a:off x="0" y="1308402"/>
              <a:ext cx="9182100" cy="12003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99" u="none" cap="none" strike="noStrike">
                  <a:solidFill>
                    <a:srgbClr val="204A87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Vibration feedback guides the user’s next action.</a:t>
              </a:r>
              <a:endParaRPr/>
            </a:p>
          </p:txBody>
        </p:sp>
      </p:grpSp>
      <p:sp>
        <p:nvSpPr>
          <p:cNvPr id="151" name="Google Shape;151;p17"/>
          <p:cNvSpPr txBox="1"/>
          <p:nvPr/>
        </p:nvSpPr>
        <p:spPr>
          <a:xfrm>
            <a:off x="666750" y="4244340"/>
            <a:ext cx="864987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4A679D"/>
                </a:solidFill>
                <a:latin typeface="Geo"/>
                <a:ea typeface="Geo"/>
                <a:cs typeface="Geo"/>
                <a:sym typeface="Geo"/>
              </a:rPr>
              <a:t>01</a:t>
            </a:r>
            <a:endParaRPr/>
          </a:p>
        </p:txBody>
      </p:sp>
      <p:sp>
        <p:nvSpPr>
          <p:cNvPr id="152" name="Google Shape;152;p17"/>
          <p:cNvSpPr txBox="1"/>
          <p:nvPr/>
        </p:nvSpPr>
        <p:spPr>
          <a:xfrm>
            <a:off x="9296400" y="4250055"/>
            <a:ext cx="864987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4A679D"/>
                </a:solidFill>
                <a:latin typeface="Geo"/>
                <a:ea typeface="Geo"/>
                <a:cs typeface="Geo"/>
                <a:sym typeface="Geo"/>
              </a:rPr>
              <a:t>03</a:t>
            </a:r>
            <a:endParaRPr/>
          </a:p>
        </p:txBody>
      </p:sp>
      <p:sp>
        <p:nvSpPr>
          <p:cNvPr id="153" name="Google Shape;153;p17"/>
          <p:cNvSpPr txBox="1"/>
          <p:nvPr/>
        </p:nvSpPr>
        <p:spPr>
          <a:xfrm>
            <a:off x="9296400" y="6936105"/>
            <a:ext cx="864987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4A679D"/>
                </a:solidFill>
                <a:latin typeface="Geo"/>
                <a:ea typeface="Geo"/>
                <a:cs typeface="Geo"/>
                <a:sym typeface="Geo"/>
              </a:rPr>
              <a:t>04</a:t>
            </a:r>
            <a:endParaRPr/>
          </a:p>
        </p:txBody>
      </p:sp>
      <p:sp>
        <p:nvSpPr>
          <p:cNvPr id="154" name="Google Shape;154;p17"/>
          <p:cNvSpPr txBox="1"/>
          <p:nvPr/>
        </p:nvSpPr>
        <p:spPr>
          <a:xfrm>
            <a:off x="666750" y="6930390"/>
            <a:ext cx="864987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4A679D"/>
                </a:solidFill>
                <a:latin typeface="Geo"/>
                <a:ea typeface="Geo"/>
                <a:cs typeface="Geo"/>
                <a:sym typeface="Geo"/>
              </a:rPr>
              <a:t>02</a:t>
            </a:r>
            <a:endParaRPr/>
          </a:p>
        </p:txBody>
      </p:sp>
      <p:grpSp>
        <p:nvGrpSpPr>
          <p:cNvPr id="155" name="Google Shape;155;p17"/>
          <p:cNvGrpSpPr/>
          <p:nvPr/>
        </p:nvGrpSpPr>
        <p:grpSpPr>
          <a:xfrm>
            <a:off x="10732887" y="3494530"/>
            <a:ext cx="6886575" cy="1835378"/>
            <a:chOff x="0" y="0"/>
            <a:chExt cx="9182100" cy="2447170"/>
          </a:xfrm>
        </p:grpSpPr>
        <p:sp>
          <p:nvSpPr>
            <p:cNvPr id="156" name="Google Shape;156;p17"/>
            <p:cNvSpPr txBox="1"/>
            <p:nvPr/>
          </p:nvSpPr>
          <p:spPr>
            <a:xfrm>
              <a:off x="0" y="0"/>
              <a:ext cx="9182100" cy="61201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799" u="none" cap="none" strike="noStrike">
                  <a:solidFill>
                    <a:srgbClr val="4A679D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Processing</a:t>
              </a:r>
              <a:endParaRPr/>
            </a:p>
          </p:txBody>
        </p:sp>
        <p:sp>
          <p:nvSpPr>
            <p:cNvPr id="157" name="Google Shape;157;p17"/>
            <p:cNvSpPr txBox="1"/>
            <p:nvPr/>
          </p:nvSpPr>
          <p:spPr>
            <a:xfrm>
              <a:off x="0" y="1246808"/>
              <a:ext cx="9182100" cy="12003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99" u="none" cap="none" strike="noStrike">
                  <a:solidFill>
                    <a:srgbClr val="204A87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A microcontroller checks sensor values against thresholds.</a:t>
              </a: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2" name="Google Shape;162;p18"/>
          <p:cNvGrpSpPr/>
          <p:nvPr/>
        </p:nvGrpSpPr>
        <p:grpSpPr>
          <a:xfrm>
            <a:off x="0" y="-144661"/>
            <a:ext cx="7858125" cy="10431661"/>
            <a:chOff x="0" y="-38100"/>
            <a:chExt cx="2069630" cy="2747433"/>
          </a:xfrm>
        </p:grpSpPr>
        <p:sp>
          <p:nvSpPr>
            <p:cNvPr id="163" name="Google Shape;163;p18"/>
            <p:cNvSpPr/>
            <p:nvPr/>
          </p:nvSpPr>
          <p:spPr>
            <a:xfrm>
              <a:off x="0" y="0"/>
              <a:ext cx="2069630" cy="2709333"/>
            </a:xfrm>
            <a:custGeom>
              <a:rect b="b" l="l" r="r" t="t"/>
              <a:pathLst>
                <a:path extrusionOk="0" h="2709333" w="2069630">
                  <a:moveTo>
                    <a:pt x="0" y="0"/>
                  </a:moveTo>
                  <a:lnTo>
                    <a:pt x="2069630" y="0"/>
                  </a:lnTo>
                  <a:lnTo>
                    <a:pt x="206963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88AADC"/>
            </a:solidFill>
            <a:ln>
              <a:noFill/>
            </a:ln>
          </p:spPr>
        </p:sp>
        <p:sp>
          <p:nvSpPr>
            <p:cNvPr id="164" name="Google Shape;164;p18"/>
            <p:cNvSpPr txBox="1"/>
            <p:nvPr/>
          </p:nvSpPr>
          <p:spPr>
            <a:xfrm>
              <a:off x="0" y="-38100"/>
              <a:ext cx="2069630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5" name="Google Shape;165;p18"/>
          <p:cNvSpPr txBox="1"/>
          <p:nvPr/>
        </p:nvSpPr>
        <p:spPr>
          <a:xfrm>
            <a:off x="666750" y="809625"/>
            <a:ext cx="5448300" cy="49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8000" u="none" cap="none" strike="noStrike">
                <a:solidFill>
                  <a:srgbClr val="4A679D"/>
                </a:solidFill>
                <a:latin typeface="Georgia"/>
                <a:ea typeface="Georgia"/>
                <a:cs typeface="Georgia"/>
                <a:sym typeface="Georgia"/>
              </a:rPr>
              <a:t>What Makes PathSense Unique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grpSp>
        <p:nvGrpSpPr>
          <p:cNvPr id="166" name="Google Shape;166;p18"/>
          <p:cNvGrpSpPr/>
          <p:nvPr/>
        </p:nvGrpSpPr>
        <p:grpSpPr>
          <a:xfrm>
            <a:off x="10447610" y="6907997"/>
            <a:ext cx="7253182" cy="1812434"/>
            <a:chOff x="0" y="0"/>
            <a:chExt cx="9670909" cy="2416578"/>
          </a:xfrm>
        </p:grpSpPr>
        <p:sp>
          <p:nvSpPr>
            <p:cNvPr id="167" name="Google Shape;167;p18"/>
            <p:cNvSpPr txBox="1"/>
            <p:nvPr/>
          </p:nvSpPr>
          <p:spPr>
            <a:xfrm>
              <a:off x="0" y="0"/>
              <a:ext cx="9182100" cy="66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000" u="none" cap="none" strike="noStrike">
                  <a:solidFill>
                    <a:srgbClr val="4A679D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Precision</a:t>
              </a:r>
              <a:endParaRPr/>
            </a:p>
          </p:txBody>
        </p:sp>
        <p:sp>
          <p:nvSpPr>
            <p:cNvPr id="168" name="Google Shape;168;p18"/>
            <p:cNvSpPr txBox="1"/>
            <p:nvPr/>
          </p:nvSpPr>
          <p:spPr>
            <a:xfrm>
              <a:off x="0" y="1272722"/>
              <a:ext cx="9670909" cy="11438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000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633" u="none" cap="none" strike="noStrike">
                  <a:solidFill>
                    <a:srgbClr val="204A87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Dedicated sensors specifically target potholes and puddles.</a:t>
              </a:r>
              <a:endParaRPr/>
            </a:p>
          </p:txBody>
        </p:sp>
      </p:grpSp>
      <p:sp>
        <p:nvSpPr>
          <p:cNvPr id="169" name="Google Shape;169;p18"/>
          <p:cNvSpPr txBox="1"/>
          <p:nvPr/>
        </p:nvSpPr>
        <p:spPr>
          <a:xfrm>
            <a:off x="9296400" y="4250055"/>
            <a:ext cx="864987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4A679D"/>
                </a:solidFill>
                <a:latin typeface="Geo"/>
                <a:ea typeface="Geo"/>
                <a:cs typeface="Geo"/>
                <a:sym typeface="Geo"/>
              </a:rPr>
              <a:t>02</a:t>
            </a:r>
            <a:endParaRPr/>
          </a:p>
        </p:txBody>
      </p:sp>
      <p:sp>
        <p:nvSpPr>
          <p:cNvPr id="170" name="Google Shape;170;p18"/>
          <p:cNvSpPr txBox="1"/>
          <p:nvPr/>
        </p:nvSpPr>
        <p:spPr>
          <a:xfrm>
            <a:off x="9296400" y="1553369"/>
            <a:ext cx="864987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4A679D"/>
                </a:solidFill>
                <a:latin typeface="Geo"/>
                <a:ea typeface="Geo"/>
                <a:cs typeface="Geo"/>
                <a:sym typeface="Geo"/>
              </a:rPr>
              <a:t>01</a:t>
            </a:r>
            <a:endParaRPr/>
          </a:p>
        </p:txBody>
      </p:sp>
      <p:sp>
        <p:nvSpPr>
          <p:cNvPr id="171" name="Google Shape;171;p18"/>
          <p:cNvSpPr txBox="1"/>
          <p:nvPr/>
        </p:nvSpPr>
        <p:spPr>
          <a:xfrm>
            <a:off x="9296400" y="6936105"/>
            <a:ext cx="864987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4A679D"/>
                </a:solidFill>
                <a:latin typeface="Geo"/>
                <a:ea typeface="Geo"/>
                <a:cs typeface="Geo"/>
                <a:sym typeface="Geo"/>
              </a:rPr>
              <a:t>03</a:t>
            </a:r>
            <a:endParaRPr/>
          </a:p>
        </p:txBody>
      </p:sp>
      <p:grpSp>
        <p:nvGrpSpPr>
          <p:cNvPr id="172" name="Google Shape;172;p18"/>
          <p:cNvGrpSpPr/>
          <p:nvPr/>
        </p:nvGrpSpPr>
        <p:grpSpPr>
          <a:xfrm>
            <a:off x="10447610" y="4162066"/>
            <a:ext cx="7460705" cy="1534144"/>
            <a:chOff x="0" y="0"/>
            <a:chExt cx="9947606" cy="2045525"/>
          </a:xfrm>
        </p:grpSpPr>
        <p:sp>
          <p:nvSpPr>
            <p:cNvPr id="173" name="Google Shape;173;p18"/>
            <p:cNvSpPr txBox="1"/>
            <p:nvPr/>
          </p:nvSpPr>
          <p:spPr>
            <a:xfrm>
              <a:off x="0" y="0"/>
              <a:ext cx="9182100" cy="66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000" u="none" cap="none" strike="noStrike">
                  <a:solidFill>
                    <a:srgbClr val="4A679D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Emergency</a:t>
              </a:r>
              <a:endParaRPr/>
            </a:p>
          </p:txBody>
        </p:sp>
        <p:sp>
          <p:nvSpPr>
            <p:cNvPr id="174" name="Google Shape;174;p18"/>
            <p:cNvSpPr txBox="1"/>
            <p:nvPr/>
          </p:nvSpPr>
          <p:spPr>
            <a:xfrm>
              <a:off x="0" y="1471185"/>
              <a:ext cx="9947606" cy="5743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998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08" u="none" cap="none" strike="noStrike">
                  <a:solidFill>
                    <a:srgbClr val="204A87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Integrated SOS alert for fall response included.</a:t>
              </a:r>
              <a:endParaRPr/>
            </a:p>
          </p:txBody>
        </p:sp>
      </p:grpSp>
      <p:grpSp>
        <p:nvGrpSpPr>
          <p:cNvPr id="175" name="Google Shape;175;p18"/>
          <p:cNvGrpSpPr/>
          <p:nvPr/>
        </p:nvGrpSpPr>
        <p:grpSpPr>
          <a:xfrm>
            <a:off x="10447610" y="1519852"/>
            <a:ext cx="7749362" cy="1454405"/>
            <a:chOff x="0" y="0"/>
            <a:chExt cx="10332483" cy="1939207"/>
          </a:xfrm>
        </p:grpSpPr>
        <p:sp>
          <p:nvSpPr>
            <p:cNvPr id="176" name="Google Shape;176;p18"/>
            <p:cNvSpPr txBox="1"/>
            <p:nvPr/>
          </p:nvSpPr>
          <p:spPr>
            <a:xfrm>
              <a:off x="0" y="0"/>
              <a:ext cx="9182100" cy="66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000" u="none" cap="none" strike="noStrike">
                  <a:solidFill>
                    <a:srgbClr val="4A679D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Coverage</a:t>
              </a:r>
              <a:endParaRPr/>
            </a:p>
          </p:txBody>
        </p:sp>
        <p:sp>
          <p:nvSpPr>
            <p:cNvPr id="177" name="Google Shape;177;p18"/>
            <p:cNvSpPr txBox="1"/>
            <p:nvPr/>
          </p:nvSpPr>
          <p:spPr>
            <a:xfrm>
              <a:off x="0" y="1343751"/>
              <a:ext cx="10332483" cy="5954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000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813" u="none" cap="none" strike="noStrike">
                  <a:solidFill>
                    <a:srgbClr val="204A87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Detects forward, side, and ground depth obstacles.</a:t>
              </a:r>
              <a:endParaRPr/>
            </a:p>
          </p:txBody>
        </p:sp>
      </p:grpSp>
      <p:pic>
        <p:nvPicPr>
          <p:cNvPr id="178" name="Google Shape;178;p18" title="imag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6750" y="7546324"/>
            <a:ext cx="2534025" cy="1935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9"/>
          <p:cNvSpPr/>
          <p:nvPr/>
        </p:nvSpPr>
        <p:spPr>
          <a:xfrm>
            <a:off x="9296400" y="666750"/>
            <a:ext cx="4010025" cy="2340610"/>
          </a:xfrm>
          <a:custGeom>
            <a:rect b="b" l="l" r="r" t="t"/>
            <a:pathLst>
              <a:path extrusionOk="0" h="600782" w="1029283">
                <a:moveTo>
                  <a:pt x="38613" y="0"/>
                </a:moveTo>
                <a:lnTo>
                  <a:pt x="990671" y="0"/>
                </a:lnTo>
                <a:cubicBezTo>
                  <a:pt x="1011996" y="0"/>
                  <a:pt x="1029283" y="17288"/>
                  <a:pt x="1029283" y="38613"/>
                </a:cubicBezTo>
                <a:lnTo>
                  <a:pt x="1029283" y="562169"/>
                </a:lnTo>
                <a:cubicBezTo>
                  <a:pt x="1029283" y="583494"/>
                  <a:pt x="1011996" y="600782"/>
                  <a:pt x="990671" y="600782"/>
                </a:cubicBezTo>
                <a:lnTo>
                  <a:pt x="38613" y="600782"/>
                </a:lnTo>
                <a:cubicBezTo>
                  <a:pt x="17288" y="600782"/>
                  <a:pt x="0" y="583494"/>
                  <a:pt x="0" y="562169"/>
                </a:cubicBezTo>
                <a:lnTo>
                  <a:pt x="0" y="38613"/>
                </a:lnTo>
                <a:cubicBezTo>
                  <a:pt x="0" y="17288"/>
                  <a:pt x="17288" y="0"/>
                  <a:pt x="38613" y="0"/>
                </a:cubicBez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102" r="-102" t="0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9"/>
          <p:cNvSpPr/>
          <p:nvPr/>
        </p:nvSpPr>
        <p:spPr>
          <a:xfrm>
            <a:off x="13611225" y="666750"/>
            <a:ext cx="4010025" cy="2340610"/>
          </a:xfrm>
          <a:custGeom>
            <a:rect b="b" l="l" r="r" t="t"/>
            <a:pathLst>
              <a:path extrusionOk="0" h="600782" w="1029283">
                <a:moveTo>
                  <a:pt x="38613" y="0"/>
                </a:moveTo>
                <a:lnTo>
                  <a:pt x="990671" y="0"/>
                </a:lnTo>
                <a:cubicBezTo>
                  <a:pt x="1011996" y="0"/>
                  <a:pt x="1029283" y="17288"/>
                  <a:pt x="1029283" y="38613"/>
                </a:cubicBezTo>
                <a:lnTo>
                  <a:pt x="1029283" y="562169"/>
                </a:lnTo>
                <a:cubicBezTo>
                  <a:pt x="1029283" y="583494"/>
                  <a:pt x="1011996" y="600782"/>
                  <a:pt x="990671" y="600782"/>
                </a:cubicBezTo>
                <a:lnTo>
                  <a:pt x="38613" y="600782"/>
                </a:lnTo>
                <a:cubicBezTo>
                  <a:pt x="17288" y="600782"/>
                  <a:pt x="0" y="583494"/>
                  <a:pt x="0" y="562169"/>
                </a:cubicBezTo>
                <a:lnTo>
                  <a:pt x="0" y="38613"/>
                </a:lnTo>
                <a:cubicBezTo>
                  <a:pt x="0" y="17288"/>
                  <a:pt x="17288" y="0"/>
                  <a:pt x="38613" y="0"/>
                </a:cubicBez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-102" r="-102" t="0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9"/>
          <p:cNvSpPr/>
          <p:nvPr/>
        </p:nvSpPr>
        <p:spPr>
          <a:xfrm>
            <a:off x="9296400" y="5143500"/>
            <a:ext cx="4010025" cy="2239371"/>
          </a:xfrm>
          <a:custGeom>
            <a:rect b="b" l="l" r="r" t="t"/>
            <a:pathLst>
              <a:path extrusionOk="0" h="574796" w="1029283">
                <a:moveTo>
                  <a:pt x="38613" y="0"/>
                </a:moveTo>
                <a:lnTo>
                  <a:pt x="990671" y="0"/>
                </a:lnTo>
                <a:cubicBezTo>
                  <a:pt x="1011996" y="0"/>
                  <a:pt x="1029283" y="17288"/>
                  <a:pt x="1029283" y="38613"/>
                </a:cubicBezTo>
                <a:lnTo>
                  <a:pt x="1029283" y="536184"/>
                </a:lnTo>
                <a:cubicBezTo>
                  <a:pt x="1029283" y="557509"/>
                  <a:pt x="1011996" y="574796"/>
                  <a:pt x="990671" y="574796"/>
                </a:cubicBezTo>
                <a:lnTo>
                  <a:pt x="38613" y="574796"/>
                </a:lnTo>
                <a:cubicBezTo>
                  <a:pt x="17288" y="574796"/>
                  <a:pt x="0" y="557509"/>
                  <a:pt x="0" y="536184"/>
                </a:cubicBezTo>
                <a:lnTo>
                  <a:pt x="0" y="38613"/>
                </a:lnTo>
                <a:cubicBezTo>
                  <a:pt x="0" y="17288"/>
                  <a:pt x="17288" y="0"/>
                  <a:pt x="38613" y="0"/>
                </a:cubicBez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-423" r="-423" t="0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6" name="Google Shape;186;p19"/>
          <p:cNvGrpSpPr/>
          <p:nvPr/>
        </p:nvGrpSpPr>
        <p:grpSpPr>
          <a:xfrm>
            <a:off x="0" y="-144661"/>
            <a:ext cx="7858125" cy="10431661"/>
            <a:chOff x="0" y="-38100"/>
            <a:chExt cx="2069630" cy="2747433"/>
          </a:xfrm>
        </p:grpSpPr>
        <p:sp>
          <p:nvSpPr>
            <p:cNvPr id="187" name="Google Shape;187;p19"/>
            <p:cNvSpPr/>
            <p:nvPr/>
          </p:nvSpPr>
          <p:spPr>
            <a:xfrm>
              <a:off x="0" y="0"/>
              <a:ext cx="2069630" cy="2709333"/>
            </a:xfrm>
            <a:custGeom>
              <a:rect b="b" l="l" r="r" t="t"/>
              <a:pathLst>
                <a:path extrusionOk="0" h="2709333" w="2069630">
                  <a:moveTo>
                    <a:pt x="0" y="0"/>
                  </a:moveTo>
                  <a:lnTo>
                    <a:pt x="2069630" y="0"/>
                  </a:lnTo>
                  <a:lnTo>
                    <a:pt x="206963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04A87"/>
            </a:solidFill>
            <a:ln>
              <a:noFill/>
            </a:ln>
          </p:spPr>
        </p:sp>
        <p:sp>
          <p:nvSpPr>
            <p:cNvPr id="188" name="Google Shape;188;p19"/>
            <p:cNvSpPr txBox="1"/>
            <p:nvPr/>
          </p:nvSpPr>
          <p:spPr>
            <a:xfrm>
              <a:off x="0" y="-38100"/>
              <a:ext cx="2069630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9" name="Google Shape;189;p19"/>
          <p:cNvSpPr txBox="1"/>
          <p:nvPr/>
        </p:nvSpPr>
        <p:spPr>
          <a:xfrm>
            <a:off x="666750" y="733425"/>
            <a:ext cx="5753100" cy="664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8000" u="none" cap="none" strike="noStrike">
                <a:solidFill>
                  <a:srgbClr val="88AADC"/>
                </a:solidFill>
                <a:latin typeface="Georgia"/>
                <a:ea typeface="Georgia"/>
                <a:cs typeface="Georgia"/>
                <a:sym typeface="Georgia"/>
              </a:rPr>
              <a:t>Component Placement on the PathSense Cane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grpSp>
        <p:nvGrpSpPr>
          <p:cNvPr id="190" name="Google Shape;190;p19"/>
          <p:cNvGrpSpPr/>
          <p:nvPr/>
        </p:nvGrpSpPr>
        <p:grpSpPr>
          <a:xfrm>
            <a:off x="9296400" y="3344989"/>
            <a:ext cx="4010025" cy="1218438"/>
            <a:chOff x="0" y="0"/>
            <a:chExt cx="5346700" cy="1624584"/>
          </a:xfrm>
        </p:grpSpPr>
        <p:sp>
          <p:nvSpPr>
            <p:cNvPr id="191" name="Google Shape;191;p19"/>
            <p:cNvSpPr txBox="1"/>
            <p:nvPr/>
          </p:nvSpPr>
          <p:spPr>
            <a:xfrm>
              <a:off x="0" y="0"/>
              <a:ext cx="5345796" cy="6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800" u="none" cap="none" strike="noStrike">
                  <a:solidFill>
                    <a:srgbClr val="88AADC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Handle</a:t>
              </a:r>
              <a:endParaRPr/>
            </a:p>
          </p:txBody>
        </p:sp>
        <p:sp>
          <p:nvSpPr>
            <p:cNvPr id="192" name="Google Shape;192;p19"/>
            <p:cNvSpPr txBox="1"/>
            <p:nvPr/>
          </p:nvSpPr>
          <p:spPr>
            <a:xfrm>
              <a:off x="0" y="781939"/>
              <a:ext cx="5346700" cy="8426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9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00" u="none" cap="none" strike="noStrike">
                  <a:solidFill>
                    <a:srgbClr val="204A87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Microcontroller and SOS button housed neatly.</a:t>
              </a:r>
              <a:endParaRPr/>
            </a:p>
          </p:txBody>
        </p:sp>
      </p:grpSp>
      <p:grpSp>
        <p:nvGrpSpPr>
          <p:cNvPr id="193" name="Google Shape;193;p19"/>
          <p:cNvGrpSpPr/>
          <p:nvPr/>
        </p:nvGrpSpPr>
        <p:grpSpPr>
          <a:xfrm>
            <a:off x="13611225" y="3352800"/>
            <a:ext cx="4010025" cy="1218438"/>
            <a:chOff x="0" y="0"/>
            <a:chExt cx="5346700" cy="1624584"/>
          </a:xfrm>
        </p:grpSpPr>
        <p:sp>
          <p:nvSpPr>
            <p:cNvPr id="194" name="Google Shape;194;p19"/>
            <p:cNvSpPr txBox="1"/>
            <p:nvPr/>
          </p:nvSpPr>
          <p:spPr>
            <a:xfrm>
              <a:off x="0" y="0"/>
              <a:ext cx="5345796" cy="6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800" u="none" cap="none" strike="noStrike">
                  <a:solidFill>
                    <a:srgbClr val="88AADC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Grip</a:t>
              </a:r>
              <a:endParaRPr/>
            </a:p>
          </p:txBody>
        </p:sp>
        <p:sp>
          <p:nvSpPr>
            <p:cNvPr id="195" name="Google Shape;195;p19"/>
            <p:cNvSpPr txBox="1"/>
            <p:nvPr/>
          </p:nvSpPr>
          <p:spPr>
            <a:xfrm>
              <a:off x="0" y="781939"/>
              <a:ext cx="5346700" cy="8426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9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00" u="none" cap="none" strike="noStrike">
                  <a:solidFill>
                    <a:srgbClr val="204A87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Vibration motor for immediate silent feedback.</a:t>
              </a:r>
              <a:endParaRPr/>
            </a:p>
          </p:txBody>
        </p:sp>
      </p:grpSp>
      <p:grpSp>
        <p:nvGrpSpPr>
          <p:cNvPr id="196" name="Google Shape;196;p19"/>
          <p:cNvGrpSpPr/>
          <p:nvPr/>
        </p:nvGrpSpPr>
        <p:grpSpPr>
          <a:xfrm>
            <a:off x="9296400" y="7829550"/>
            <a:ext cx="4010025" cy="1218438"/>
            <a:chOff x="0" y="0"/>
            <a:chExt cx="5346700" cy="1624584"/>
          </a:xfrm>
        </p:grpSpPr>
        <p:sp>
          <p:nvSpPr>
            <p:cNvPr id="197" name="Google Shape;197;p19"/>
            <p:cNvSpPr txBox="1"/>
            <p:nvPr/>
          </p:nvSpPr>
          <p:spPr>
            <a:xfrm>
              <a:off x="0" y="0"/>
              <a:ext cx="5345796" cy="6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800" u="none" cap="none" strike="noStrike">
                  <a:solidFill>
                    <a:srgbClr val="88AADC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Sensors</a:t>
              </a:r>
              <a:endParaRPr/>
            </a:p>
          </p:txBody>
        </p:sp>
        <p:sp>
          <p:nvSpPr>
            <p:cNvPr id="198" name="Google Shape;198;p19"/>
            <p:cNvSpPr txBox="1"/>
            <p:nvPr/>
          </p:nvSpPr>
          <p:spPr>
            <a:xfrm>
              <a:off x="0" y="781939"/>
              <a:ext cx="5346700" cy="8426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9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00" u="none" cap="none" strike="noStrike">
                  <a:solidFill>
                    <a:srgbClr val="204A87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Ultrasonic and depth sensors ensure navigation safety.</a:t>
              </a:r>
              <a:endParaRPr/>
            </a:p>
          </p:txBody>
        </p:sp>
      </p:grpSp>
      <p:pic>
        <p:nvPicPr>
          <p:cNvPr id="199" name="Google Shape;199;p19" title="image (1)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66750" y="7563224"/>
            <a:ext cx="2411750" cy="185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4" name="Google Shape;204;p20"/>
          <p:cNvGrpSpPr/>
          <p:nvPr/>
        </p:nvGrpSpPr>
        <p:grpSpPr>
          <a:xfrm>
            <a:off x="0" y="-144661"/>
            <a:ext cx="7858125" cy="10431661"/>
            <a:chOff x="0" y="-38100"/>
            <a:chExt cx="2069630" cy="2747433"/>
          </a:xfrm>
        </p:grpSpPr>
        <p:sp>
          <p:nvSpPr>
            <p:cNvPr id="205" name="Google Shape;205;p20"/>
            <p:cNvSpPr/>
            <p:nvPr/>
          </p:nvSpPr>
          <p:spPr>
            <a:xfrm>
              <a:off x="0" y="0"/>
              <a:ext cx="2069630" cy="2709333"/>
            </a:xfrm>
            <a:custGeom>
              <a:rect b="b" l="l" r="r" t="t"/>
              <a:pathLst>
                <a:path extrusionOk="0" h="2709333" w="2069630">
                  <a:moveTo>
                    <a:pt x="0" y="0"/>
                  </a:moveTo>
                  <a:lnTo>
                    <a:pt x="2069630" y="0"/>
                  </a:lnTo>
                  <a:lnTo>
                    <a:pt x="206963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88AADC"/>
            </a:solidFill>
            <a:ln>
              <a:noFill/>
            </a:ln>
          </p:spPr>
        </p:sp>
        <p:sp>
          <p:nvSpPr>
            <p:cNvPr id="206" name="Google Shape;206;p20"/>
            <p:cNvSpPr txBox="1"/>
            <p:nvPr/>
          </p:nvSpPr>
          <p:spPr>
            <a:xfrm>
              <a:off x="0" y="-38100"/>
              <a:ext cx="2069630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7" name="Google Shape;207;p20"/>
          <p:cNvSpPr txBox="1"/>
          <p:nvPr/>
        </p:nvSpPr>
        <p:spPr>
          <a:xfrm>
            <a:off x="666750" y="809625"/>
            <a:ext cx="5448300" cy="49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8000" u="none" cap="none" strike="noStrike">
                <a:solidFill>
                  <a:srgbClr val="4A679D"/>
                </a:solidFill>
                <a:latin typeface="Georgia"/>
                <a:ea typeface="Georgia"/>
                <a:cs typeface="Georgia"/>
                <a:sym typeface="Georgia"/>
              </a:rPr>
              <a:t>Practical Strengths of PathSense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grpSp>
        <p:nvGrpSpPr>
          <p:cNvPr id="208" name="Google Shape;208;p20"/>
          <p:cNvGrpSpPr/>
          <p:nvPr/>
        </p:nvGrpSpPr>
        <p:grpSpPr>
          <a:xfrm>
            <a:off x="10161387" y="7155180"/>
            <a:ext cx="7553325" cy="2015265"/>
            <a:chOff x="0" y="0"/>
            <a:chExt cx="10071100" cy="2687020"/>
          </a:xfrm>
        </p:grpSpPr>
        <p:sp>
          <p:nvSpPr>
            <p:cNvPr id="209" name="Google Shape;209;p20"/>
            <p:cNvSpPr txBox="1"/>
            <p:nvPr/>
          </p:nvSpPr>
          <p:spPr>
            <a:xfrm>
              <a:off x="0" y="0"/>
              <a:ext cx="10071100" cy="72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290" u="none" cap="none" strike="noStrike">
                  <a:solidFill>
                    <a:srgbClr val="4A679D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Retrofit Design</a:t>
              </a:r>
              <a:endParaRPr/>
            </a:p>
          </p:txBody>
        </p:sp>
        <p:sp>
          <p:nvSpPr>
            <p:cNvPr id="210" name="Google Shape;210;p20"/>
            <p:cNvSpPr txBox="1"/>
            <p:nvPr/>
          </p:nvSpPr>
          <p:spPr>
            <a:xfrm>
              <a:off x="0" y="1432879"/>
              <a:ext cx="10071100" cy="125414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997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42" u="none" cap="none" strike="noStrike">
                  <a:solidFill>
                    <a:srgbClr val="204A87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Attaches to standard canes, requiring </a:t>
              </a:r>
              <a:r>
                <a:rPr b="1" i="0" lang="en-US" sz="2742" u="none" cap="none" strike="noStrike">
                  <a:solidFill>
                    <a:srgbClr val="204A87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no custom builds</a:t>
              </a:r>
              <a:r>
                <a:rPr b="0" i="0" lang="en-US" sz="2742" u="none" cap="none" strike="noStrike">
                  <a:solidFill>
                    <a:srgbClr val="204A87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.</a:t>
              </a:r>
              <a:endParaRPr/>
            </a:p>
          </p:txBody>
        </p:sp>
      </p:grpSp>
      <p:sp>
        <p:nvSpPr>
          <p:cNvPr id="211" name="Google Shape;211;p20"/>
          <p:cNvSpPr txBox="1"/>
          <p:nvPr/>
        </p:nvSpPr>
        <p:spPr>
          <a:xfrm>
            <a:off x="9296400" y="4250055"/>
            <a:ext cx="864987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4A679D"/>
                </a:solidFill>
                <a:latin typeface="Geo"/>
                <a:ea typeface="Geo"/>
                <a:cs typeface="Geo"/>
                <a:sym typeface="Geo"/>
              </a:rPr>
              <a:t>02</a:t>
            </a:r>
            <a:endParaRPr/>
          </a:p>
        </p:txBody>
      </p:sp>
      <p:sp>
        <p:nvSpPr>
          <p:cNvPr id="212" name="Google Shape;212;p20"/>
          <p:cNvSpPr txBox="1"/>
          <p:nvPr/>
        </p:nvSpPr>
        <p:spPr>
          <a:xfrm>
            <a:off x="9296400" y="1553369"/>
            <a:ext cx="864987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4A679D"/>
                </a:solidFill>
                <a:latin typeface="Geo"/>
                <a:ea typeface="Geo"/>
                <a:cs typeface="Geo"/>
                <a:sym typeface="Geo"/>
              </a:rPr>
              <a:t>01</a:t>
            </a:r>
            <a:endParaRPr/>
          </a:p>
        </p:txBody>
      </p:sp>
      <p:sp>
        <p:nvSpPr>
          <p:cNvPr id="213" name="Google Shape;213;p20"/>
          <p:cNvSpPr txBox="1"/>
          <p:nvPr/>
        </p:nvSpPr>
        <p:spPr>
          <a:xfrm>
            <a:off x="9296400" y="6936105"/>
            <a:ext cx="864987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4A679D"/>
                </a:solidFill>
                <a:latin typeface="Geo"/>
                <a:ea typeface="Geo"/>
                <a:cs typeface="Geo"/>
                <a:sym typeface="Geo"/>
              </a:rPr>
              <a:t>03</a:t>
            </a:r>
            <a:endParaRPr/>
          </a:p>
        </p:txBody>
      </p:sp>
      <p:grpSp>
        <p:nvGrpSpPr>
          <p:cNvPr id="214" name="Google Shape;214;p20"/>
          <p:cNvGrpSpPr/>
          <p:nvPr/>
        </p:nvGrpSpPr>
        <p:grpSpPr>
          <a:xfrm>
            <a:off x="10161387" y="4259580"/>
            <a:ext cx="7553325" cy="1983923"/>
            <a:chOff x="0" y="0"/>
            <a:chExt cx="10071100" cy="2645231"/>
          </a:xfrm>
        </p:grpSpPr>
        <p:sp>
          <p:nvSpPr>
            <p:cNvPr id="215" name="Google Shape;215;p20"/>
            <p:cNvSpPr txBox="1"/>
            <p:nvPr/>
          </p:nvSpPr>
          <p:spPr>
            <a:xfrm>
              <a:off x="0" y="0"/>
              <a:ext cx="10071100" cy="72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290" u="none" cap="none" strike="noStrike">
                  <a:solidFill>
                    <a:srgbClr val="4A679D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Proven Components</a:t>
              </a:r>
              <a:endParaRPr/>
            </a:p>
          </p:txBody>
        </p:sp>
        <p:sp>
          <p:nvSpPr>
            <p:cNvPr id="216" name="Google Shape;216;p20"/>
            <p:cNvSpPr txBox="1"/>
            <p:nvPr/>
          </p:nvSpPr>
          <p:spPr>
            <a:xfrm>
              <a:off x="0" y="1432879"/>
              <a:ext cx="10071100" cy="12123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997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42" u="none" cap="none" strike="noStrike">
                  <a:solidFill>
                    <a:srgbClr val="204A87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All core parts are </a:t>
              </a:r>
              <a:r>
                <a:rPr b="1" i="0" lang="en-US" sz="2742" u="none" cap="none" strike="noStrike">
                  <a:solidFill>
                    <a:srgbClr val="204A87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well-documented</a:t>
              </a:r>
              <a:r>
                <a:rPr b="0" i="0" lang="en-US" sz="2742" u="none" cap="none" strike="noStrike">
                  <a:solidFill>
                    <a:srgbClr val="204A87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and accessible.</a:t>
              </a:r>
              <a:endParaRPr/>
            </a:p>
          </p:txBody>
        </p:sp>
      </p:grpSp>
      <p:grpSp>
        <p:nvGrpSpPr>
          <p:cNvPr id="217" name="Google Shape;217;p20"/>
          <p:cNvGrpSpPr/>
          <p:nvPr/>
        </p:nvGrpSpPr>
        <p:grpSpPr>
          <a:xfrm>
            <a:off x="10263538" y="1562894"/>
            <a:ext cx="7828849" cy="1590675"/>
            <a:chOff x="0" y="0"/>
            <a:chExt cx="10438465" cy="2120900"/>
          </a:xfrm>
        </p:grpSpPr>
        <p:sp>
          <p:nvSpPr>
            <p:cNvPr id="218" name="Google Shape;218;p20"/>
            <p:cNvSpPr txBox="1"/>
            <p:nvPr/>
          </p:nvSpPr>
          <p:spPr>
            <a:xfrm>
              <a:off x="0" y="0"/>
              <a:ext cx="10438465" cy="75076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410" u="none" cap="none" strike="noStrike">
                  <a:solidFill>
                    <a:srgbClr val="4A679D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Low Cost</a:t>
              </a:r>
              <a:endParaRPr/>
            </a:p>
          </p:txBody>
        </p:sp>
        <p:sp>
          <p:nvSpPr>
            <p:cNvPr id="219" name="Google Shape;219;p20"/>
            <p:cNvSpPr txBox="1"/>
            <p:nvPr/>
          </p:nvSpPr>
          <p:spPr>
            <a:xfrm>
              <a:off x="0" y="1485841"/>
              <a:ext cx="10438465" cy="63505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997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842" u="none" cap="none" strike="noStrike">
                  <a:solidFill>
                    <a:srgbClr val="204A87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Estimated build cost is </a:t>
              </a:r>
              <a:r>
                <a:rPr b="1" i="0" lang="en-US" sz="2842" u="none" cap="none" strike="noStrike">
                  <a:solidFill>
                    <a:srgbClr val="204A87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affordable</a:t>
              </a:r>
              <a:r>
                <a:rPr b="0" i="0" lang="en-US" sz="2842" u="none" cap="none" strike="noStrike">
                  <a:solidFill>
                    <a:srgbClr val="204A87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for users.</a:t>
              </a:r>
              <a:endParaRPr/>
            </a:p>
          </p:txBody>
        </p:sp>
      </p:grpSp>
      <p:pic>
        <p:nvPicPr>
          <p:cNvPr id="220" name="Google Shape;220;p20" title="imag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6750" y="7155176"/>
            <a:ext cx="2972518" cy="2270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1"/>
          <p:cNvSpPr txBox="1"/>
          <p:nvPr/>
        </p:nvSpPr>
        <p:spPr>
          <a:xfrm>
            <a:off x="669118" y="3367087"/>
            <a:ext cx="4007657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88AAD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Sensor Logic</a:t>
            </a:r>
            <a:endParaRPr/>
          </a:p>
        </p:txBody>
      </p:sp>
      <p:sp>
        <p:nvSpPr>
          <p:cNvPr id="226" name="Google Shape;226;p21"/>
          <p:cNvSpPr txBox="1"/>
          <p:nvPr/>
        </p:nvSpPr>
        <p:spPr>
          <a:xfrm>
            <a:off x="669118" y="5105400"/>
            <a:ext cx="4007657" cy="2101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204A8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Finalizing and testing sensor logic in simulation ensures the functionality works as expected before moving to the physical prototype, minimizing potential issues during the build phase.</a:t>
            </a:r>
            <a:endParaRPr/>
          </a:p>
        </p:txBody>
      </p:sp>
      <p:sp>
        <p:nvSpPr>
          <p:cNvPr id="227" name="Google Shape;227;p21"/>
          <p:cNvSpPr txBox="1"/>
          <p:nvPr/>
        </p:nvSpPr>
        <p:spPr>
          <a:xfrm>
            <a:off x="4981575" y="3367087"/>
            <a:ext cx="4010025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88AAD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Component Sourcing</a:t>
            </a:r>
            <a:endParaRPr/>
          </a:p>
        </p:txBody>
      </p:sp>
      <p:sp>
        <p:nvSpPr>
          <p:cNvPr id="228" name="Google Shape;228;p21"/>
          <p:cNvSpPr txBox="1"/>
          <p:nvPr/>
        </p:nvSpPr>
        <p:spPr>
          <a:xfrm>
            <a:off x="13616434" y="3323432"/>
            <a:ext cx="4003106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88AAD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Feature Exploration</a:t>
            </a:r>
            <a:endParaRPr/>
          </a:p>
        </p:txBody>
      </p:sp>
      <p:sp>
        <p:nvSpPr>
          <p:cNvPr id="229" name="Google Shape;229;p21"/>
          <p:cNvSpPr txBox="1"/>
          <p:nvPr/>
        </p:nvSpPr>
        <p:spPr>
          <a:xfrm>
            <a:off x="4981575" y="5105400"/>
            <a:ext cx="4010025" cy="1749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204A8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Sourcing components for the physical prototype will begin once the simulation is validated, allowing us to gather all necessary parts for assembly efficiently and effectively.</a:t>
            </a:r>
            <a:endParaRPr/>
          </a:p>
        </p:txBody>
      </p:sp>
      <p:sp>
        <p:nvSpPr>
          <p:cNvPr id="230" name="Google Shape;230;p21"/>
          <p:cNvSpPr txBox="1"/>
          <p:nvPr/>
        </p:nvSpPr>
        <p:spPr>
          <a:xfrm>
            <a:off x="13611225" y="5105400"/>
            <a:ext cx="4003106" cy="21291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204A8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Exploring and integration for the SOS feature will enhance user safety, providing reliable emergency communication options directly from the PathSense device during critical situations.</a:t>
            </a:r>
            <a:endParaRPr/>
          </a:p>
        </p:txBody>
      </p:sp>
      <p:sp>
        <p:nvSpPr>
          <p:cNvPr id="231" name="Google Shape;231;p21"/>
          <p:cNvSpPr txBox="1"/>
          <p:nvPr/>
        </p:nvSpPr>
        <p:spPr>
          <a:xfrm>
            <a:off x="9296400" y="3367087"/>
            <a:ext cx="3807849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88AAD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Field Testing</a:t>
            </a:r>
            <a:endParaRPr/>
          </a:p>
        </p:txBody>
      </p:sp>
      <p:sp>
        <p:nvSpPr>
          <p:cNvPr id="232" name="Google Shape;232;p21"/>
          <p:cNvSpPr txBox="1"/>
          <p:nvPr/>
        </p:nvSpPr>
        <p:spPr>
          <a:xfrm>
            <a:off x="9297189" y="5105400"/>
            <a:ext cx="4009236" cy="2101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204A8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Conducting field tests on real pavement conditions will help us refine the sensor thresholds and ensure accurate obstacle detection and responses in varied environments.</a:t>
            </a:r>
            <a:endParaRPr/>
          </a:p>
        </p:txBody>
      </p:sp>
      <p:cxnSp>
        <p:nvCxnSpPr>
          <p:cNvPr id="233" name="Google Shape;233;p21"/>
          <p:cNvCxnSpPr/>
          <p:nvPr/>
        </p:nvCxnSpPr>
        <p:spPr>
          <a:xfrm>
            <a:off x="992968" y="4410075"/>
            <a:ext cx="17607376" cy="0"/>
          </a:xfrm>
          <a:prstGeom prst="straightConnector1">
            <a:avLst/>
          </a:prstGeom>
          <a:noFill/>
          <a:ln cap="flat" cmpd="sng" w="19050">
            <a:solidFill>
              <a:srgbClr val="4A679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4" name="Google Shape;234;p21"/>
          <p:cNvSpPr/>
          <p:nvPr/>
        </p:nvSpPr>
        <p:spPr>
          <a:xfrm>
            <a:off x="669118" y="4248150"/>
            <a:ext cx="323850" cy="323850"/>
          </a:xfrm>
          <a:custGeom>
            <a:rect b="b" l="l" r="r" t="t"/>
            <a:pathLst>
              <a:path extrusionOk="0" h="6350000" w="635000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  <a:close/>
              </a:path>
            </a:pathLst>
          </a:custGeom>
          <a:solidFill>
            <a:srgbClr val="4A679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21"/>
          <p:cNvSpPr/>
          <p:nvPr/>
        </p:nvSpPr>
        <p:spPr>
          <a:xfrm>
            <a:off x="4983154" y="4248150"/>
            <a:ext cx="323850" cy="323850"/>
          </a:xfrm>
          <a:custGeom>
            <a:rect b="b" l="l" r="r" t="t"/>
            <a:pathLst>
              <a:path extrusionOk="0" h="6350000" w="635000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  <a:close/>
              </a:path>
            </a:pathLst>
          </a:custGeom>
          <a:solidFill>
            <a:srgbClr val="4A679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21"/>
          <p:cNvSpPr/>
          <p:nvPr/>
        </p:nvSpPr>
        <p:spPr>
          <a:xfrm>
            <a:off x="9297189" y="4248150"/>
            <a:ext cx="323850" cy="323850"/>
          </a:xfrm>
          <a:custGeom>
            <a:rect b="b" l="l" r="r" t="t"/>
            <a:pathLst>
              <a:path extrusionOk="0" h="6350000" w="635000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  <a:close/>
              </a:path>
            </a:pathLst>
          </a:custGeom>
          <a:solidFill>
            <a:srgbClr val="4A679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21"/>
          <p:cNvSpPr/>
          <p:nvPr/>
        </p:nvSpPr>
        <p:spPr>
          <a:xfrm>
            <a:off x="13611225" y="4248150"/>
            <a:ext cx="323850" cy="323850"/>
          </a:xfrm>
          <a:custGeom>
            <a:rect b="b" l="l" r="r" t="t"/>
            <a:pathLst>
              <a:path extrusionOk="0" h="6350000" w="635000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  <a:close/>
              </a:path>
            </a:pathLst>
          </a:custGeom>
          <a:solidFill>
            <a:srgbClr val="4A679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21"/>
          <p:cNvSpPr txBox="1"/>
          <p:nvPr/>
        </p:nvSpPr>
        <p:spPr>
          <a:xfrm>
            <a:off x="666750" y="809625"/>
            <a:ext cx="169545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8000" u="none" cap="none" strike="noStrike">
                <a:solidFill>
                  <a:srgbClr val="4A679D"/>
                </a:solidFill>
                <a:latin typeface="Georgia"/>
                <a:ea typeface="Georgia"/>
                <a:cs typeface="Georgia"/>
                <a:sym typeface="Georgia"/>
              </a:rPr>
              <a:t>Next Steps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2"/>
          <p:cNvSpPr/>
          <p:nvPr/>
        </p:nvSpPr>
        <p:spPr>
          <a:xfrm>
            <a:off x="0" y="0"/>
            <a:ext cx="7858125" cy="10287000"/>
          </a:xfrm>
          <a:custGeom>
            <a:rect b="b" l="l" r="r" t="t"/>
            <a:pathLst>
              <a:path extrusionOk="0" h="1350966" w="1031988">
                <a:moveTo>
                  <a:pt x="0" y="0"/>
                </a:moveTo>
                <a:lnTo>
                  <a:pt x="1031988" y="0"/>
                </a:lnTo>
                <a:lnTo>
                  <a:pt x="1031988" y="1350966"/>
                </a:lnTo>
                <a:lnTo>
                  <a:pt x="0" y="1350966"/>
                </a:lnTo>
                <a:close/>
              </a:path>
            </a:pathLst>
          </a:custGeom>
          <a:solidFill>
            <a:srgbClr val="204A87"/>
          </a:solidFill>
          <a:ln>
            <a:noFill/>
          </a:ln>
        </p:spPr>
      </p:sp>
      <p:sp>
        <p:nvSpPr>
          <p:cNvPr id="244" name="Google Shape;244;p22"/>
          <p:cNvSpPr/>
          <p:nvPr/>
        </p:nvSpPr>
        <p:spPr>
          <a:xfrm>
            <a:off x="1052512" y="666750"/>
            <a:ext cx="5753100" cy="8953500"/>
          </a:xfrm>
          <a:custGeom>
            <a:rect b="b" l="l" r="r" t="t"/>
            <a:pathLst>
              <a:path extrusionOk="0" h="1267949" w="814724">
                <a:moveTo>
                  <a:pt x="26914" y="0"/>
                </a:moveTo>
                <a:lnTo>
                  <a:pt x="787810" y="0"/>
                </a:lnTo>
                <a:cubicBezTo>
                  <a:pt x="802675" y="0"/>
                  <a:pt x="814724" y="12050"/>
                  <a:pt x="814724" y="26914"/>
                </a:cubicBezTo>
                <a:lnTo>
                  <a:pt x="814724" y="1241035"/>
                </a:lnTo>
                <a:cubicBezTo>
                  <a:pt x="814724" y="1255899"/>
                  <a:pt x="802675" y="1267949"/>
                  <a:pt x="787810" y="1267949"/>
                </a:cubicBezTo>
                <a:lnTo>
                  <a:pt x="26914" y="1267949"/>
                </a:lnTo>
                <a:cubicBezTo>
                  <a:pt x="12050" y="1267949"/>
                  <a:pt x="0" y="1255899"/>
                  <a:pt x="0" y="1241035"/>
                </a:cubicBezTo>
                <a:lnTo>
                  <a:pt x="0" y="26914"/>
                </a:lnTo>
                <a:cubicBezTo>
                  <a:pt x="0" y="12050"/>
                  <a:pt x="12050" y="0"/>
                  <a:pt x="26914" y="0"/>
                </a:cubicBez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99" l="0" r="0" t="-199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22"/>
          <p:cNvSpPr txBox="1"/>
          <p:nvPr/>
        </p:nvSpPr>
        <p:spPr>
          <a:xfrm>
            <a:off x="9300075" y="7663735"/>
            <a:ext cx="8325000" cy="13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800" u="none" cap="none" strike="noStrike">
                <a:solidFill>
                  <a:srgbClr val="204A8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PathSense: Confident Navigation for All</a:t>
            </a:r>
            <a:endParaRPr/>
          </a:p>
        </p:txBody>
      </p:sp>
      <p:sp>
        <p:nvSpPr>
          <p:cNvPr id="246" name="Google Shape;246;p22"/>
          <p:cNvSpPr txBox="1"/>
          <p:nvPr/>
        </p:nvSpPr>
        <p:spPr>
          <a:xfrm>
            <a:off x="9303759" y="942975"/>
            <a:ext cx="8317500" cy="460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4956" u="none" cap="none" strike="noStrike">
                <a:solidFill>
                  <a:srgbClr val="4A679D"/>
                </a:solidFill>
                <a:latin typeface="Georgia"/>
                <a:ea typeface="Georgia"/>
                <a:cs typeface="Georgia"/>
                <a:sym typeface="Georgia"/>
              </a:rPr>
              <a:t>Thank You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47" name="Google Shape;247;p22"/>
          <p:cNvSpPr/>
          <p:nvPr/>
        </p:nvSpPr>
        <p:spPr>
          <a:xfrm rot="-3117037">
            <a:off x="5418783" y="7952721"/>
            <a:ext cx="2112604" cy="1859092"/>
          </a:xfrm>
          <a:custGeom>
            <a:rect b="b" l="l" r="r" t="t"/>
            <a:pathLst>
              <a:path extrusionOk="0" h="1859092" w="2112604">
                <a:moveTo>
                  <a:pt x="0" y="0"/>
                </a:moveTo>
                <a:lnTo>
                  <a:pt x="2112604" y="0"/>
                </a:lnTo>
                <a:lnTo>
                  <a:pt x="2112604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